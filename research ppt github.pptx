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7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28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30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31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34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36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37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40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8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59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1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62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65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7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68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71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8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85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86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7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89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91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92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95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sz="half" idx="1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Google Shape;40;p5"/>
          <p:cNvSpPr txBox="1"/>
          <p:nvPr>
            <p:ph type="body" sz="half" idx="21"/>
          </p:nvPr>
        </p:nvSpPr>
        <p:spPr>
          <a:xfrm>
            <a:off x="4674239" y="1604518"/>
            <a:ext cx="4015800" cy="397728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07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08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10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11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14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16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17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20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30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3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33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34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37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39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40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1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43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Body Level One…"/>
          <p:cNvSpPr txBox="1"/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3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5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9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56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57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60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62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63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66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Google Shape;48;p8"/>
          <p:cNvSpPr txBox="1"/>
          <p:nvPr>
            <p:ph type="body" sz="half" idx="21"/>
          </p:nvPr>
        </p:nvSpPr>
        <p:spPr>
          <a:xfrm>
            <a:off x="4674239" y="1604518"/>
            <a:ext cx="4015800" cy="397728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70" name="Google Shape;49;p8"/>
          <p:cNvSpPr txBox="1"/>
          <p:nvPr>
            <p:ph type="body" sz="quarter" idx="22"/>
          </p:nvPr>
        </p:nvSpPr>
        <p:spPr>
          <a:xfrm>
            <a:off x="457198" y="3682079"/>
            <a:ext cx="40158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9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80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82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83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86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1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88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89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92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4" name="Body Level One…"/>
          <p:cNvSpPr txBox="1"/>
          <p:nvPr>
            <p:ph type="body" sz="half" idx="1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Google Shape;53;p9"/>
          <p:cNvSpPr txBox="1"/>
          <p:nvPr>
            <p:ph type="body" sz="quarter" idx="21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96" name="Google Shape;54;p9"/>
          <p:cNvSpPr txBox="1"/>
          <p:nvPr>
            <p:ph type="body" sz="quarter" idx="22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5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20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1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08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09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12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14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15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6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18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0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1" name="Google Shape;58;p10"/>
          <p:cNvSpPr txBox="1"/>
          <p:nvPr>
            <p:ph type="body" sz="quarter" idx="21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22" name="Google Shape;59;p10"/>
          <p:cNvSpPr txBox="1"/>
          <p:nvPr>
            <p:ph type="body" sz="half" idx="22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31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232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7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34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35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6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38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3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40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41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44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6" name="Body Level One…"/>
          <p:cNvSpPr txBox="1"/>
          <p:nvPr>
            <p:ph type="body" sz="half" idx="1"/>
          </p:nvPr>
        </p:nvSpPr>
        <p:spPr>
          <a:xfrm>
            <a:off x="457200" y="1604519"/>
            <a:ext cx="8229242" cy="1896842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Google Shape;63;p11"/>
          <p:cNvSpPr txBox="1"/>
          <p:nvPr>
            <p:ph type="body" sz="half" idx="21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56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257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59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60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1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63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8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65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66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7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69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1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2" name="Google Shape;67;p12"/>
          <p:cNvSpPr txBox="1"/>
          <p:nvPr>
            <p:ph type="body" sz="quarter" idx="21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73" name="Google Shape;68;p12"/>
          <p:cNvSpPr txBox="1"/>
          <p:nvPr>
            <p:ph type="body" sz="quarter" idx="22"/>
          </p:nvPr>
        </p:nvSpPr>
        <p:spPr>
          <a:xfrm>
            <a:off x="457198" y="3682079"/>
            <a:ext cx="40158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74" name="Google Shape;69;p12"/>
          <p:cNvSpPr txBox="1"/>
          <p:nvPr>
            <p:ph type="body" sz="quarter" idx="23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2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3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28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9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86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87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90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5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92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293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4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296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8" name="Body Level One…"/>
          <p:cNvSpPr txBox="1"/>
          <p:nvPr>
            <p:ph type="body" sz="quarter" idx="1"/>
          </p:nvPr>
        </p:nvSpPr>
        <p:spPr>
          <a:xfrm>
            <a:off x="457200" y="1604519"/>
            <a:ext cx="2649602" cy="1896842"/>
          </a:xfrm>
          <a:prstGeom prst="rect">
            <a:avLst/>
          </a:prstGeom>
        </p:spPr>
        <p:txBody>
          <a:bodyPr anchor="t"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9" name="Google Shape;73;p13"/>
          <p:cNvSpPr txBox="1"/>
          <p:nvPr>
            <p:ph type="body" sz="quarter" idx="21"/>
          </p:nvPr>
        </p:nvSpPr>
        <p:spPr>
          <a:xfrm>
            <a:off x="3239640" y="1604519"/>
            <a:ext cx="26496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00" name="Google Shape;74;p13"/>
          <p:cNvSpPr txBox="1"/>
          <p:nvPr>
            <p:ph type="body" sz="quarter" idx="22"/>
          </p:nvPr>
        </p:nvSpPr>
        <p:spPr>
          <a:xfrm>
            <a:off x="6022080" y="1604519"/>
            <a:ext cx="26496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01" name="Google Shape;75;p13"/>
          <p:cNvSpPr txBox="1"/>
          <p:nvPr>
            <p:ph type="body" sz="quarter" idx="23"/>
          </p:nvPr>
        </p:nvSpPr>
        <p:spPr>
          <a:xfrm>
            <a:off x="457198" y="3682079"/>
            <a:ext cx="2649604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02" name="Google Shape;76;p13"/>
          <p:cNvSpPr txBox="1"/>
          <p:nvPr>
            <p:ph type="body" sz="quarter" idx="24"/>
          </p:nvPr>
        </p:nvSpPr>
        <p:spPr>
          <a:xfrm>
            <a:off x="3239640" y="3682079"/>
            <a:ext cx="26496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03" name="Google Shape;77;p13"/>
          <p:cNvSpPr txBox="1"/>
          <p:nvPr>
            <p:ph type="body" sz="quarter" idx="25"/>
          </p:nvPr>
        </p:nvSpPr>
        <p:spPr>
          <a:xfrm>
            <a:off x="6022080" y="3682079"/>
            <a:ext cx="2649602" cy="189684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" name="Google Shape;11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Google Shape;13;p1" descr="Google Shape;13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oogle Shape;14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" name="Google Shape;15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7" name="Google Shape;16;p1" descr="Google Shape;16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Google Shape;17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0" name="Google Shape;18;p1" descr="Google Shape;1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Google Shape;19;p1" descr="Google Shape;19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7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oogle Shape;20;p1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2" name="Google Shape;2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pic>
          <p:nvPicPr>
            <p:cNvPr id="13" name="Google Shape;22;p1" descr="Google Shape;22;p1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Google Shape;2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pic>
        <p:nvPicPr>
          <p:cNvPr id="16" name="Google Shape;24;p1" descr="Google Shape;24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6294618" y="6232218"/>
            <a:ext cx="258582" cy="248264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513838" marR="0" indent="-4978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84;p14"/>
          <p:cNvSpPr txBox="1"/>
          <p:nvPr/>
        </p:nvSpPr>
        <p:spPr>
          <a:xfrm>
            <a:off x="45723" y="866030"/>
            <a:ext cx="9052553" cy="616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Presentation of Exploratory Project (EP)</a:t>
            </a:r>
          </a:p>
          <a:p>
            <a:pPr algn="ctr">
              <a:spcBef>
                <a:spcPts val="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 defTabSz="457200">
              <a:spcBef>
                <a:spcPts val="1200"/>
              </a:spcBef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Fault-Tolerant and Scalable Micro-services Framework for Real-Time Digital Payment Processing</a:t>
            </a:r>
          </a:p>
          <a:p>
            <a:pPr algn="ctr">
              <a:spcBef>
                <a:spcPts val="400"/>
              </a:spcBef>
              <a:defRPr i="1" sz="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i="1" sz="3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rPr i="0" sz="1700"/>
              <a:t>Sai Krishna</a:t>
            </a:r>
            <a:endParaRPr sz="1100"/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2210992215</a:t>
            </a: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Yankit Kumar</a:t>
            </a:r>
            <a:br/>
            <a:r>
              <a:t>2210992552</a:t>
            </a: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Amrit Pal Singh  </a:t>
            </a: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2210991255</a:t>
            </a:r>
          </a:p>
          <a:p>
            <a:pPr algn="ctr">
              <a:spcBef>
                <a:spcPts val="400"/>
              </a:spcBef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</a:t>
            </a:r>
          </a:p>
          <a:p>
            <a:pPr algn="ctr">
              <a:spcBef>
                <a:spcPts val="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Anshu Singla</a:t>
            </a:r>
          </a:p>
          <a:p>
            <a:pPr algn="ctr">
              <a:spcBef>
                <a:spcPts val="4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89;p15"/>
          <p:cNvSpPr txBox="1"/>
          <p:nvPr/>
        </p:nvSpPr>
        <p:spPr>
          <a:xfrm>
            <a:off x="502923" y="146842"/>
            <a:ext cx="5928114" cy="54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Background</a:t>
            </a:r>
          </a:p>
        </p:txBody>
      </p:sp>
      <p:sp>
        <p:nvSpPr>
          <p:cNvPr id="316" name="Google Shape;90;p15"/>
          <p:cNvSpPr txBox="1"/>
          <p:nvPr>
            <p:ph type="sldNum" sz="quarter" idx="4294967295"/>
          </p:nvPr>
        </p:nvSpPr>
        <p:spPr>
          <a:xfrm>
            <a:off x="8505097" y="6414726"/>
            <a:ext cx="181341" cy="248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17" name="Google Shape;91;p15"/>
          <p:cNvSpPr txBox="1"/>
          <p:nvPr/>
        </p:nvSpPr>
        <p:spPr>
          <a:xfrm>
            <a:off x="209731" y="1109740"/>
            <a:ext cx="8747273" cy="9107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50000"/>
              </a:lnSpc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457200" indent="-3175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monolithic payment systems cannot scale efficiently and often cause system-wide failures during peak usage.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175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Modern users expect instant, error-free digital transactions.</a:t>
            </a: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175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Payment systems must handle 1 million+ concurrent transactions while maintaining constant availability and reliability.</a:t>
            </a: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spcBef>
                <a:spcPts val="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97;p16"/>
          <p:cNvSpPr txBox="1"/>
          <p:nvPr/>
        </p:nvSpPr>
        <p:spPr>
          <a:xfrm>
            <a:off x="150400" y="1022674"/>
            <a:ext cx="8993700" cy="428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556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 a scalable and fault-tolerant digital payment processing framework.</a:t>
            </a:r>
          </a:p>
          <a:p>
            <a: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556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Ensure service continuity and fast recovery from system failures</a:t>
            </a:r>
          </a:p>
          <a:p>
            <a:pPr indent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556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 transaction throughput and reduce latency in real-time processing.</a:t>
            </a:r>
            <a:endParaRPr b="1"/>
          </a:p>
          <a:p>
            <a:pPr indent="457200"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55600">
              <a:buClr>
                <a:srgbClr val="000000"/>
              </a:buClr>
              <a:buSzPts val="2400"/>
              <a:buFont typeface="Times New Roman"/>
              <a:buChar char="●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 a blueprint for modern financial systems handling high-volume digital payments.</a:t>
            </a:r>
          </a:p>
        </p:txBody>
      </p:sp>
      <p:sp>
        <p:nvSpPr>
          <p:cNvPr id="320" name="Google Shape;98;p16"/>
          <p:cNvSpPr txBox="1"/>
          <p:nvPr>
            <p:ph type="title"/>
          </p:nvPr>
        </p:nvSpPr>
        <p:spPr>
          <a:xfrm>
            <a:off x="375999" y="-1"/>
            <a:ext cx="5486102" cy="9141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Objective of the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104;p17"/>
          <p:cNvSpPr txBox="1"/>
          <p:nvPr>
            <p:ph type="title"/>
          </p:nvPr>
        </p:nvSpPr>
        <p:spPr>
          <a:xfrm>
            <a:off x="285749" y="-1"/>
            <a:ext cx="5486103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Solution / System Overview</a:t>
            </a:r>
          </a:p>
        </p:txBody>
      </p:sp>
      <p:sp>
        <p:nvSpPr>
          <p:cNvPr id="323" name="Google Shape;105;p17"/>
          <p:cNvSpPr txBox="1"/>
          <p:nvPr>
            <p:ph type="body" idx="1"/>
          </p:nvPr>
        </p:nvSpPr>
        <p:spPr>
          <a:xfrm>
            <a:off x="457200" y="1604519"/>
            <a:ext cx="8229301" cy="3977402"/>
          </a:xfrm>
          <a:prstGeom prst="rect">
            <a:avLst/>
          </a:prstGeom>
        </p:spPr>
        <p:txBody>
          <a:bodyPr/>
          <a:lstStyle/>
          <a:p>
            <a:pPr marL="429768" indent="-334263" defTabSz="859536">
              <a:lnSpc>
                <a:spcPct val="72000"/>
              </a:lnSpc>
              <a:spcBef>
                <a:spcPts val="900"/>
              </a:spcBef>
              <a:buSzPts val="2200"/>
              <a:buFont typeface="Times New Roman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micro-services-based framework ensures modularity, scalability, and fault isolation.</a:t>
            </a:r>
          </a:p>
          <a:p>
            <a:pPr marL="0" indent="429768" defTabSz="859536">
              <a:lnSpc>
                <a:spcPct val="72000"/>
              </a:lnSpc>
              <a:spcBef>
                <a:spcPts val="90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29768" indent="-334263" defTabSz="859536">
              <a:lnSpc>
                <a:spcPct val="72000"/>
              </a:lnSpc>
              <a:spcBef>
                <a:spcPts val="900"/>
              </a:spcBef>
              <a:buSzPts val="2200"/>
              <a:buFont typeface="Times New Roman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Components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API Gateway: Handles authentication, rate-limiting, and routing.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Authentication Service: Manages user identity and tokens.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Transaction Processor: Validates and executes payment operations.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Fraud Detection: Uses AI models for real-time risk scoring.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Notification Service: Handles alerts and confirmations.</a:t>
            </a:r>
          </a:p>
          <a:p>
            <a:pPr lvl="1" marL="471236" indent="-113096" defTabSz="429768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Ledger Service: Maintains immutable transaction records.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111;p18"/>
          <p:cNvSpPr txBox="1"/>
          <p:nvPr>
            <p:ph type="title"/>
          </p:nvPr>
        </p:nvSpPr>
        <p:spPr>
          <a:xfrm>
            <a:off x="285749" y="-1"/>
            <a:ext cx="5486103" cy="91410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326" name="Google Shape;112;p18"/>
          <p:cNvSpPr txBox="1"/>
          <p:nvPr>
            <p:ph type="body" idx="1"/>
          </p:nvPr>
        </p:nvSpPr>
        <p:spPr>
          <a:xfrm>
            <a:off x="457200" y="1604519"/>
            <a:ext cx="8229301" cy="3977402"/>
          </a:xfrm>
          <a:prstGeom prst="rect">
            <a:avLst/>
          </a:prstGeom>
        </p:spPr>
        <p:txBody>
          <a:bodyPr/>
          <a:lstStyle/>
          <a:p>
            <a:pPr indent="-355600">
              <a:lnSpc>
                <a:spcPct val="100000"/>
              </a:lnSpc>
              <a:buSzPts val="2400"/>
              <a:buFont typeface="Times New Roman"/>
              <a:buChar char="●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Service Isolation:</a:t>
            </a:r>
            <a:r>
              <a:rPr b="0"/>
              <a:t> Independent micro-services prevent cascading failures.</a:t>
            </a:r>
          </a:p>
          <a:p>
            <a:pPr indent="-355600">
              <a:lnSpc>
                <a:spcPct val="100000"/>
              </a:lnSpc>
              <a:buSzPts val="2400"/>
              <a:buFont typeface="Times New Roman"/>
              <a:buChar char="●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Independent Scaling: </a:t>
            </a:r>
            <a:r>
              <a:rPr b="0"/>
              <a:t>Each service scales separately based on demand.</a:t>
            </a:r>
          </a:p>
          <a:p>
            <a:pPr indent="-355600">
              <a:lnSpc>
                <a:spcPct val="100000"/>
              </a:lnSpc>
              <a:buSzPts val="2400"/>
              <a:buFont typeface="Times New Roman"/>
              <a:buChar char="●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Parallel Development: </a:t>
            </a:r>
            <a:r>
              <a:rPr b="0"/>
              <a:t>Teams can work on separate services simultaneously.</a:t>
            </a:r>
          </a:p>
          <a:p>
            <a:pPr indent="-355600">
              <a:lnSpc>
                <a:spcPct val="100000"/>
              </a:lnSpc>
              <a:buSzPts val="2400"/>
              <a:buFont typeface="Times New Roman"/>
              <a:buChar char="●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Reliable Messaging (Kafka): </a:t>
            </a:r>
            <a:r>
              <a:rPr b="0"/>
              <a:t>Ensures message delivery even during failures.</a:t>
            </a:r>
          </a:p>
          <a:p>
            <a:pPr indent="-355600">
              <a:lnSpc>
                <a:spcPct val="100000"/>
              </a:lnSpc>
              <a:buSzPts val="2400"/>
              <a:buFont typeface="Times New Roman"/>
              <a:buChar char="●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Saga Pattern:</a:t>
            </a:r>
            <a:r>
              <a:rPr b="0"/>
              <a:t> Coordinates distributed transactions and rollbacks.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118;p19"/>
          <p:cNvSpPr txBox="1"/>
          <p:nvPr>
            <p:ph type="title"/>
          </p:nvPr>
        </p:nvSpPr>
        <p:spPr>
          <a:xfrm>
            <a:off x="285749" y="-1"/>
            <a:ext cx="5486103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Fault Tolerance Mechanisms</a:t>
            </a:r>
          </a:p>
        </p:txBody>
      </p:sp>
      <p:sp>
        <p:nvSpPr>
          <p:cNvPr id="329" name="Google Shape;119;p19"/>
          <p:cNvSpPr txBox="1"/>
          <p:nvPr>
            <p:ph type="body" idx="1"/>
          </p:nvPr>
        </p:nvSpPr>
        <p:spPr>
          <a:xfrm>
            <a:off x="457200" y="1617219"/>
            <a:ext cx="8229301" cy="3977402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Service Isolation</a:t>
            </a:r>
            <a:r>
              <a:rPr b="0"/>
              <a:t> – Deployments are independent, reducing blast radius during failures.</a:t>
            </a:r>
          </a:p>
          <a:p>
            <a:pPr marL="240631" indent="-240631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Circuit Breaker Pattern </a:t>
            </a:r>
            <a:r>
              <a:rPr b="0"/>
              <a:t>– Automatically halts calls to failing services and provides fallback responses.</a:t>
            </a:r>
          </a:p>
          <a:p>
            <a:pPr marL="240631" indent="-240631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Apache Kafka Messaging </a:t>
            </a:r>
            <a:r>
              <a:rPr b="0"/>
              <a:t>– Guarantees message persistence and recovery.</a:t>
            </a:r>
          </a:p>
          <a:p>
            <a:pPr marL="240631" indent="-240631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Saga Choreography </a:t>
            </a:r>
            <a:r>
              <a:rPr b="0"/>
              <a:t>– Enables consistency across distributed transactions.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125;p20"/>
          <p:cNvSpPr txBox="1"/>
          <p:nvPr>
            <p:ph type="title"/>
          </p:nvPr>
        </p:nvSpPr>
        <p:spPr>
          <a:xfrm>
            <a:off x="240649" y="-1"/>
            <a:ext cx="5486102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Scalability Mechanisms</a:t>
            </a:r>
          </a:p>
        </p:txBody>
      </p:sp>
      <p:sp>
        <p:nvSpPr>
          <p:cNvPr id="332" name="Google Shape;126;p20"/>
          <p:cNvSpPr txBox="1"/>
          <p:nvPr>
            <p:ph type="body" idx="1"/>
          </p:nvPr>
        </p:nvSpPr>
        <p:spPr>
          <a:xfrm>
            <a:off x="457348" y="1604519"/>
            <a:ext cx="8229304" cy="3977402"/>
          </a:xfrm>
          <a:prstGeom prst="rect">
            <a:avLst/>
          </a:prstGeom>
        </p:spPr>
        <p:txBody>
          <a:bodyPr/>
          <a:lstStyle/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Kubernetes Auto-Scaling: </a:t>
            </a:r>
            <a:r>
              <a:rPr b="0"/>
              <a:t>Increases replicas dynamically based on CPU/memory metrics.</a:t>
            </a:r>
          </a:p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Multi-Layer Load Balancing: </a:t>
            </a:r>
            <a:r>
              <a:rPr b="0"/>
              <a:t>Balances requests at both gateway and consumer group levels.</a:t>
            </a:r>
          </a:p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Redis Distributed Caching:</a:t>
            </a:r>
            <a:r>
              <a:rPr b="0"/>
              <a:t> Reduces latency and database load for frequent lookups.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132;p21"/>
          <p:cNvSpPr txBox="1"/>
          <p:nvPr>
            <p:ph type="title"/>
          </p:nvPr>
        </p:nvSpPr>
        <p:spPr>
          <a:xfrm>
            <a:off x="225599" y="-1"/>
            <a:ext cx="5486102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Performance Evaluation</a:t>
            </a:r>
          </a:p>
        </p:txBody>
      </p:sp>
      <p:sp>
        <p:nvSpPr>
          <p:cNvPr id="335" name="Google Shape;133;p21"/>
          <p:cNvSpPr txBox="1"/>
          <p:nvPr>
            <p:ph type="body" idx="1"/>
          </p:nvPr>
        </p:nvSpPr>
        <p:spPr>
          <a:xfrm>
            <a:off x="457200" y="1604519"/>
            <a:ext cx="8229301" cy="3977402"/>
          </a:xfrm>
          <a:prstGeom prst="rect">
            <a:avLst/>
          </a:prstGeom>
        </p:spPr>
        <p:txBody>
          <a:bodyPr/>
          <a:lstStyle/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8.9× Throughput Improvement: 87,000 TPS achieved vs monolith’s 9,800 TPS limit.</a:t>
            </a:r>
          </a:p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68.4% Latency Reduction: P99 latency dropped from 980 ms → 310 ms.</a:t>
            </a:r>
          </a:p>
          <a:p>
            <a:pPr marL="120315" indent="-120315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250+ Additional Uptime Hours: Measurable annual enhancement per service.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Availability Comparison"/>
          <p:cNvSpPr txBox="1"/>
          <p:nvPr>
            <p:ph type="title"/>
          </p:nvPr>
        </p:nvSpPr>
        <p:spPr>
          <a:xfrm>
            <a:off x="0" y="-1"/>
            <a:ext cx="5486040" cy="914043"/>
          </a:xfrm>
          <a:prstGeom prst="rect">
            <a:avLst/>
          </a:prstGeom>
        </p:spPr>
        <p:txBody>
          <a:bodyPr/>
          <a:lstStyle>
            <a:lvl1pPr defTabSz="859536">
              <a:lnSpc>
                <a:spcPts val="5300"/>
              </a:lnSpc>
              <a:defRPr sz="4100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</a:lstStyle>
          <a:p>
            <a:pPr/>
            <a:r>
              <a:t>Availability Comparison</a:t>
            </a:r>
          </a:p>
        </p:txBody>
      </p:sp>
      <p:sp>
        <p:nvSpPr>
          <p:cNvPr id="338" name="All services achieve 99.88%+ availability with framework vs 95.2% minimum without."/>
          <p:cNvSpPr txBox="1"/>
          <p:nvPr>
            <p:ph type="body" idx="1"/>
          </p:nvPr>
        </p:nvSpPr>
        <p:spPr>
          <a:xfrm>
            <a:off x="457200" y="1440358"/>
            <a:ext cx="8229601" cy="3977284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 marL="0" indent="0">
              <a:lnSpc>
                <a:spcPts val="1800"/>
              </a:lnSpc>
              <a:spcBef>
                <a:spcPts val="0"/>
              </a:spcBef>
              <a:buSzTx/>
              <a:buNone/>
              <a:defRPr sz="1500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All services achieve </a:t>
            </a:r>
            <a:r>
              <a:rPr b="1">
                <a:solidFill>
                  <a:srgbClr val="FF954F"/>
                </a:solidFill>
              </a:rPr>
              <a:t>99.88%+ availability</a:t>
            </a:r>
            <a:r>
              <a:t> with framework vs 95.2% minimum without.</a:t>
            </a:r>
          </a:p>
        </p:txBody>
      </p:sp>
      <p:pic>
        <p:nvPicPr>
          <p:cNvPr id="3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8768" y="2657832"/>
            <a:ext cx="4571643" cy="29114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132;p21"/>
          <p:cNvSpPr txBox="1"/>
          <p:nvPr>
            <p:ph type="title"/>
          </p:nvPr>
        </p:nvSpPr>
        <p:spPr>
          <a:xfrm>
            <a:off x="225599" y="-1"/>
            <a:ext cx="5486102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Availability and Resilience</a:t>
            </a:r>
          </a:p>
        </p:txBody>
      </p:sp>
      <p:sp>
        <p:nvSpPr>
          <p:cNvPr id="342" name="Google Shape;133;p21"/>
          <p:cNvSpPr txBox="1"/>
          <p:nvPr>
            <p:ph type="body" idx="1"/>
          </p:nvPr>
        </p:nvSpPr>
        <p:spPr>
          <a:xfrm>
            <a:off x="154990" y="1198694"/>
            <a:ext cx="8229301" cy="3977401"/>
          </a:xfrm>
          <a:prstGeom prst="rect">
            <a:avLst/>
          </a:prstGeom>
        </p:spPr>
        <p:txBody>
          <a:bodyPr/>
          <a:lstStyle/>
          <a:p>
            <a:pPr indent="-317500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Times Roman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Availability: 99.88%+ uptime across services vs 95.2% minimum in monolith.</a:t>
            </a:r>
          </a:p>
          <a:p>
            <a:pPr indent="-317500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Times Roman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Resilience Under Failure:</a:t>
            </a:r>
          </a:p>
          <a:p>
            <a:pPr lvl="1" marL="914400" indent="-317500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Times Roman"/>
              <a:buChar char="◦"/>
              <a:defRPr i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97.3%</a:t>
            </a:r>
            <a:r>
              <a:rPr i="0"/>
              <a:t> transaction success under 30% failure injection.</a:t>
            </a:r>
          </a:p>
          <a:p>
            <a:pPr lvl="1" marL="914400" indent="-317500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Times Roman"/>
              <a:buChar char="◦"/>
              <a:defRPr i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31.6×</a:t>
            </a:r>
            <a:r>
              <a:rPr i="0"/>
              <a:t> faster recovery with circuit breaker.</a:t>
            </a:r>
          </a:p>
          <a:p>
            <a:pPr lvl="1" marL="914400" indent="-317500" defTabSz="4572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Times Roman"/>
              <a:buChar char="◦"/>
              <a:defRPr i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99.9%</a:t>
            </a:r>
            <a:r>
              <a:rPr i="0"/>
              <a:t> overall system uptime.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132;p21"/>
          <p:cNvSpPr txBox="1"/>
          <p:nvPr>
            <p:ph type="title"/>
          </p:nvPr>
        </p:nvSpPr>
        <p:spPr>
          <a:xfrm>
            <a:off x="225599" y="-1"/>
            <a:ext cx="5486102" cy="9141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345" name="Google Shape;133;p21"/>
          <p:cNvSpPr txBox="1"/>
          <p:nvPr>
            <p:ph type="body" idx="1"/>
          </p:nvPr>
        </p:nvSpPr>
        <p:spPr>
          <a:xfrm>
            <a:off x="457200" y="1604519"/>
            <a:ext cx="8229301" cy="3977402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Balanced Architecture:</a:t>
            </a:r>
            <a:r>
              <a:rPr b="0"/>
              <a:t> Fault tolerance and scalability must co-evolve as design equals.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Risk of Isolated Scaling:</a:t>
            </a:r>
            <a:r>
              <a:rPr b="0"/>
              <a:t> Purely scaling systems can increase fragility without fault tolerance.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Tx/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Production-Ready Framework:</a:t>
            </a:r>
            <a:r>
              <a:rPr b="0"/>
              <a:t> Provides realistic patterns for fintech teams upgrading digital payment systems.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138;p22"/>
          <p:cNvSpPr txBox="1"/>
          <p:nvPr/>
        </p:nvSpPr>
        <p:spPr>
          <a:xfrm>
            <a:off x="1343301" y="3102137"/>
            <a:ext cx="6614150" cy="84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48" name="Google Shape;139;p22"/>
          <p:cNvSpPr txBox="1"/>
          <p:nvPr>
            <p:ph type="sldNum" sz="quarter" idx="4294967295"/>
          </p:nvPr>
        </p:nvSpPr>
        <p:spPr>
          <a:xfrm>
            <a:off x="8427855" y="6414726"/>
            <a:ext cx="258583" cy="248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